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63" r:id="rId3"/>
    <p:sldId id="264" r:id="rId4"/>
    <p:sldId id="265" r:id="rId5"/>
    <p:sldId id="266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370" y="53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49793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59776926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65158714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1182981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650684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51967540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E8585E-D5B5-69EB-85B6-56F2D6FC711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9429F6-6A56-CDE6-C4F5-A082CBD0F76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160864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5333076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202248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127790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3538063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38322963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F11EB-AD39-998D-1F53-D2B01F19E18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400185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0268585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109831104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75482352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72176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54070129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33344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25788189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3677743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863027818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538269564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01728656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33876859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01984262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49593758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3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71953262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3163052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508885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8640173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4224443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8361740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3058369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0994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98369468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5832298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5540488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676590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33326272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458135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09787450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117182081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508040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10965385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91811506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52690905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11428600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65202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4576749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21836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78346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52131831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8712747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262867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45759760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240336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55233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134215291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110844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1920553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08710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43377865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675348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1178250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75746081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05293251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86725708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549358415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16772841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114119634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28749226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15347483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955413161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95326855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76928147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381065673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57776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642033167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586904252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1620632796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490282123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4910627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31355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1424487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8743974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70105531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08090958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92765306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23427093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16174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75676497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07489200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5298294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86437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84806211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5568267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1039095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704015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9828459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2137384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41075437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31123481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06879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69736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25193380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345885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10026370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088088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73045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4848783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2273804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654926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3929111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626793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0960800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764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1471919650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76181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90793095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4782515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45245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473558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9832214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912817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07220549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8378926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93830955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55533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20451697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5716030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35421315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341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09784050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8951922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0990040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49769204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21645536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758942237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529989063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2295458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20872628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7108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05285805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2567175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4373291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4877546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49076216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934119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5554915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06931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43184890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387223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2766553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0729685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2885236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40742189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975940580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102446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7628319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1807068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8136567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4628267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54888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1465148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8744163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41931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213157764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4079851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701318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705758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4145027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5189102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478450229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1685935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40297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76752169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24841493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859251681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0373983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36046202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680113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2314703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98363367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0922137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38659138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490368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43700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76095527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9862845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40049181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313714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741724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b="1"/>
              <a:t>«Арена переговоров»</a:t>
            </a:r>
            <a:endParaRPr lang="ru-RU" sz="48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4D75A5-B287-703D-A24A-F65B37D8E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871" b="21681"/>
          <a:stretch>
            <a:fillRect/>
          </a:stretch>
        </p:blipFill>
        <p:spPr bwMode="auto">
          <a:xfrm>
            <a:off x="5940584" y="2186197"/>
            <a:ext cx="5192713" cy="26310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93860561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/>
              <a:t>Симулятор развития навыков переговоров · Кейс №9, ОЭЗ «Алабуга» · ЛЦТ 2026</a:t>
            </a:r>
          </a:p>
        </p:txBody>
      </p:sp>
      <p:sp>
        <p:nvSpPr>
          <p:cNvPr id="814279994" name="Скругленный прямоугольник 1"/>
          <p:cNvSpPr/>
          <p:nvPr/>
        </p:nvSpPr>
        <p:spPr bwMode="auto">
          <a:xfrm>
            <a:off x="5474363" y="1699404"/>
            <a:ext cx="6125156" cy="3433313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r>
              <a:rPr lang="ru-RU" b="1" dirty="0">
                <a:solidFill>
                  <a:schemeClr val="accent2"/>
                </a:solidFill>
              </a:rPr>
              <a:t>Команда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534299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EAC0C6-CA37-E6CA-8C50-77AA24907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588" b="7588"/>
          <a:stretch/>
        </p:blipFill>
        <p:spPr bwMode="auto">
          <a:xfrm>
            <a:off x="-1" y="334948"/>
            <a:ext cx="6456363" cy="2636837"/>
          </a:xfrm>
          <a:prstGeom prst="rect">
            <a:avLst/>
          </a:prstGeom>
        </p:spPr>
      </p:pic>
      <p:sp>
        <p:nvSpPr>
          <p:cNvPr id="1617945171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534305612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Один ИИ-движок вместо дерева готовых реплик: контекст (сфера, тон, роль и цели оппонента) порождает уникальный диалог каждый раз, а не тест с заранее прописанными ответами.</a:t>
            </a:r>
            <a:endParaRPr/>
          </a:p>
        </p:txBody>
      </p:sp>
      <p:sp>
        <p:nvSpPr>
          <p:cNvPr id="1150572497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Никита, </a:t>
            </a:r>
            <a:r>
              <a:rPr lang="ru-RU" dirty="0" err="1">
                <a:solidFill>
                  <a:schemeClr val="tx1"/>
                </a:solidFill>
              </a:rPr>
              <a:t>фулстек</a:t>
            </a:r>
            <a:r>
              <a:rPr lang="ru-RU" dirty="0">
                <a:solidFill>
                  <a:schemeClr val="tx1"/>
                </a:solidFill>
              </a:rPr>
              <a:t>-разработчик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Команда собралась под кейс хакатона;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капитан учится в IT-колледже.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Заречный, Свердловская область</a:t>
            </a:r>
            <a:endParaRPr dirty="0"/>
          </a:p>
        </p:txBody>
      </p:sp>
      <p:sp>
        <p:nvSpPr>
          <p:cNvPr id="1973803581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776828556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solidFill>
                  <a:schemeClr val="accent5"/>
                </a:solidFill>
                <a:latin typeface="Montserrat"/>
              </a:rPr>
              <a:t>Связисты</a:t>
            </a:r>
          </a:p>
        </p:txBody>
      </p:sp>
      <p:cxnSp>
        <p:nvCxnSpPr>
          <p:cNvPr id="36273465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7778443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0792982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5655555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773970108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Веб-тренажёр переговоров: пользователь настраивает сценарий (сферу, сложность, тон и цели оппонента), проходит живой диалог с ИИ-оппонентом на Gemini API и получает разбор с исходом сделки и баллами по 4 критериям.</a:t>
            </a:r>
            <a:endParaRPr dirty="0"/>
          </a:p>
        </p:txBody>
      </p:sp>
      <p:sp>
        <p:nvSpPr>
          <p:cNvPr id="1426759899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632852" name="Скругленный прямоугольник 55"/>
          <p:cNvSpPr/>
          <p:nvPr/>
        </p:nvSpPr>
        <p:spPr bwMode="auto">
          <a:xfrm>
            <a:off x="1606481" y="1435741"/>
            <a:ext cx="3213715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394303282" name="Текст 8"/>
          <p:cNvSpPr txBox="1"/>
          <p:nvPr/>
        </p:nvSpPr>
        <p:spPr bwMode="auto">
          <a:xfrm>
            <a:off x="1930753" y="4609953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Капитан, </a:t>
            </a:r>
            <a:r>
              <a:rPr lang="ru-RU" dirty="0" err="1">
                <a:solidFill>
                  <a:schemeClr val="tx1"/>
                </a:solidFill>
              </a:rPr>
              <a:t>фулстек</a:t>
            </a:r>
            <a:r>
              <a:rPr lang="ru-RU" dirty="0">
                <a:solidFill>
                  <a:schemeClr val="tx1"/>
                </a:solidFill>
              </a:rPr>
              <a:t>-разработчик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@taoroa</a:t>
            </a:r>
            <a:r>
              <a:rPr lang="ru-RU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1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+79002022907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Заречный</a:t>
            </a:r>
            <a:endParaRPr dirty="0"/>
          </a:p>
        </p:txBody>
      </p:sp>
      <p:sp>
        <p:nvSpPr>
          <p:cNvPr id="875632001" name="Текст 8"/>
          <p:cNvSpPr txBox="1"/>
          <p:nvPr/>
        </p:nvSpPr>
        <p:spPr bwMode="auto">
          <a:xfrm>
            <a:off x="1930753" y="3832813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 b="1" dirty="0">
                <a:solidFill>
                  <a:schemeClr val="accent5"/>
                </a:solidFill>
              </a:rPr>
              <a:t>Никита Попов</a:t>
            </a:r>
            <a:endParaRPr sz="2400" dirty="0"/>
          </a:p>
        </p:txBody>
      </p:sp>
      <p:sp>
        <p:nvSpPr>
          <p:cNvPr id="1321231123" name="Скругленный прямоугольник 58"/>
          <p:cNvSpPr/>
          <p:nvPr/>
        </p:nvSpPr>
        <p:spPr bwMode="auto">
          <a:xfrm>
            <a:off x="6947286" y="1435741"/>
            <a:ext cx="3313961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64651049" name="Текст 8"/>
          <p:cNvSpPr txBox="1"/>
          <p:nvPr/>
        </p:nvSpPr>
        <p:spPr bwMode="auto">
          <a:xfrm>
            <a:off x="7172474" y="452368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Участник команды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@psiaka18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+79089162414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dirty="0">
                <a:solidFill>
                  <a:schemeClr val="tx1"/>
                </a:solidFill>
              </a:rPr>
              <a:t>Заречный</a:t>
            </a:r>
          </a:p>
        </p:txBody>
      </p:sp>
      <p:sp>
        <p:nvSpPr>
          <p:cNvPr id="856680863" name="Текст 8"/>
          <p:cNvSpPr txBox="1"/>
          <p:nvPr/>
        </p:nvSpPr>
        <p:spPr bwMode="auto">
          <a:xfrm>
            <a:off x="7216654" y="3746548"/>
            <a:ext cx="1805994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 b="1" dirty="0">
                <a:solidFill>
                  <a:schemeClr val="accent5"/>
                </a:solidFill>
              </a:rPr>
              <a:t>Тимофей Фоминых</a:t>
            </a:r>
            <a:endParaRPr sz="2400" dirty="0"/>
          </a:p>
        </p:txBody>
      </p:sp>
      <p:sp>
        <p:nvSpPr>
          <p:cNvPr id="1179385316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r>
              <a:rPr lang="ru-RU" sz="2800" b="1" dirty="0">
                <a:solidFill>
                  <a:schemeClr val="accent2"/>
                </a:solidFill>
              </a:rPr>
              <a:t>Наша команда</a:t>
            </a:r>
          </a:p>
        </p:txBody>
      </p:sp>
      <p:sp>
        <p:nvSpPr>
          <p:cNvPr id="607602966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580B07-47E5-F5CD-BE6B-AEB284A5AAA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l="3417" t="2938" r="4299" b="1561"/>
          <a:stretch>
            <a:fillRect/>
          </a:stretch>
        </p:blipFill>
        <p:spPr bwMode="auto">
          <a:xfrm>
            <a:off x="2104845" y="1698803"/>
            <a:ext cx="2096219" cy="19847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C82CB8-873E-51A5-CA18-3A16558EE63F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7946" b="994"/>
          <a:stretch>
            <a:fillRect/>
          </a:stretch>
        </p:blipFill>
        <p:spPr bwMode="auto">
          <a:xfrm>
            <a:off x="7521576" y="1612538"/>
            <a:ext cx="2165379" cy="20791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688940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359335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48498932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«Связисты»</a:t>
            </a:r>
          </a:p>
        </p:txBody>
      </p:sp>
      <p:sp>
        <p:nvSpPr>
          <p:cNvPr id="210930550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Команда сложилась специально под кейс №9 хакатона ЛЦТ. Капитан отвечал за продукт, архитектуру и весь код, активно используя ИИ-ассистента для ускорения разработки.</a:t>
            </a:r>
            <a:endParaRPr/>
          </a:p>
        </p:txBody>
      </p:sp>
      <p:sp>
        <p:nvSpPr>
          <p:cNvPr id="93330547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760051636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Главная сложность оказалась в инфраструктуре, а не в логике продукта: доступ к </a:t>
            </a:r>
            <a:r>
              <a:rPr lang="ru-RU" dirty="0" err="1">
                <a:solidFill>
                  <a:schemeClr val="tx1"/>
                </a:solidFill>
              </a:rPr>
              <a:t>YandexGPT</a:t>
            </a:r>
            <a:r>
              <a:rPr lang="ru-RU" dirty="0">
                <a:solidFill>
                  <a:schemeClr val="tx1"/>
                </a:solidFill>
              </a:rPr>
              <a:t> заблокирован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на уровне организации хакатона — перешли на Gemini API с автоматическим офлайн-режимом на случай сбоя.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Также столкнулись с жёсткой бесплатной квотой Gemini — решили ограничением длины ответа,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обрезкой истории диалога и блокировкой повторных кликов интерфейса во время ожидания ответа.</a:t>
            </a:r>
            <a:endParaRPr dirty="0"/>
          </a:p>
        </p:txBody>
      </p:sp>
      <p:sp>
        <p:nvSpPr>
          <p:cNvPr id="30399721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434216213" name="Текст 8"/>
          <p:cNvSpPr txBox="1"/>
          <p:nvPr/>
        </p:nvSpPr>
        <p:spPr bwMode="auto">
          <a:xfrm>
            <a:off x="533607" y="3429001"/>
            <a:ext cx="7221540" cy="88420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Понравилось, что задача продуктовая: нужно продумать аудиторию, механику влияния стратегии на исход и </a:t>
            </a:r>
            <a:r>
              <a:rPr lang="ru-RU" dirty="0" err="1">
                <a:solidFill>
                  <a:schemeClr val="tx1"/>
                </a:solidFill>
              </a:rPr>
              <a:t>конфигурируемость</a:t>
            </a:r>
            <a:r>
              <a:rPr lang="ru-RU" dirty="0">
                <a:solidFill>
                  <a:schemeClr val="tx1"/>
                </a:solidFill>
              </a:rPr>
              <a:t> сценария под разные ниши - так тренажёр ближе к реальному продукту, а не к учебной демке.</a:t>
            </a:r>
            <a:endParaRPr dirty="0"/>
          </a:p>
        </p:txBody>
      </p:sp>
      <p:sp>
        <p:nvSpPr>
          <p:cNvPr id="758824506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30896258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4313325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8841326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71914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188055009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244135747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6030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77819945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5175023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4749570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60134240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FastAPI + SQLite-бэкенд, ИИ-оппонент на Gemini API с офлайн-фолбэком при сбое, конфигурируемые сценарии (сфера, тон, роль и цели), геймификация (ранг, XP, шкала напряжения) и разбор с исходом сделки по 4 критериям. Развёрнуто на Railway с постоянным томом для данных. </a:t>
            </a:r>
            <a:endParaRPr/>
          </a:p>
        </p:txBody>
      </p:sp>
      <p:sp>
        <p:nvSpPr>
          <p:cNvPr id="42515686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Продукт закрывает нишу безопасной практики переговоров для HR, продаж, закупок и обучения  без дорогих очных тренингов. Развитие: авторизация и история прогресса, библиотека сценариев по отраслям, 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голосовой ввод и мультиплеер «два живых участника + ИИ-посредник».</a:t>
            </a:r>
            <a:endParaRPr dirty="0"/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83272139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43049512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5331639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39571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5618817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AE647B-B464-31D0-B4FC-1D8B0A6BBF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126" b="7126"/>
          <a:stretch/>
        </p:blipFill>
        <p:spPr bwMode="auto">
          <a:xfrm>
            <a:off x="7028349" y="2059797"/>
            <a:ext cx="4817576" cy="3366218"/>
          </a:xfrm>
          <a:prstGeom prst="roundRect">
            <a:avLst>
              <a:gd name="adj" fmla="val 6127"/>
            </a:avLst>
          </a:prstGeom>
        </p:spPr>
      </p:pic>
      <p:sp>
        <p:nvSpPr>
          <p:cNvPr id="458588495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190262"/>
            <a:ext cx="6021238" cy="4865481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 sz="1800" dirty="0">
                <a:solidFill>
                  <a:schemeClr val="tx1"/>
                </a:solidFill>
              </a:rPr>
              <a:t>Менеджеры по продажам, HR-специалисты, закупщики и руководители развивают переговорные навыки в основном через лекции и разбор кейсов «на бумаге» — без практики живого диалога. Очные тренинги дают мало повторов и дорого масштабируются: сложно провести занятие в удобный момент, а разбор получает не столько формулировки конкретного человека. «Арена переговоров» закрывает этот пробел — даёт неограниченное число попыток отработать стратегию и аргументы в безопасной среде, с разбором именно своих реплик после каждой сессии.</a:t>
            </a:r>
          </a:p>
        </p:txBody>
      </p:sp>
      <p:sp>
        <p:nvSpPr>
          <p:cNvPr id="523063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14227" y="569343"/>
            <a:ext cx="2775523" cy="3761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АУДИТОРИЯ И ПРОБЛЕМА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07221" name="Скругленный прямоугольник 1"/>
          <p:cNvSpPr/>
          <p:nvPr/>
        </p:nvSpPr>
        <p:spPr bwMode="auto">
          <a:xfrm>
            <a:off x="346075" y="324562"/>
            <a:ext cx="38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73153193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22665948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19793564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33103199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10725341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93977822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67447737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3600" b="1" dirty="0">
                <a:solidFill>
                  <a:schemeClr val="tx1"/>
                </a:solidFill>
              </a:rPr>
              <a:t>Практика вместо теории: не читаешь про переговоры - ведёшь их и сразу видишь результат своей стратегии</a:t>
            </a:r>
          </a:p>
        </p:txBody>
      </p:sp>
      <p:sp>
        <p:nvSpPr>
          <p:cNvPr id="1796266057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Неограниченные повторы - в отличие от очного тренинга, можно проходить один сценарий снова и снова</a:t>
            </a:r>
          </a:p>
        </p:txBody>
      </p:sp>
      <p:sp>
        <p:nvSpPr>
          <p:cNvPr id="34033986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Разбор именно своих формулировок, а не общих рекомендаций из лекции</a:t>
            </a:r>
          </a:p>
        </p:txBody>
      </p:sp>
      <p:sp>
        <p:nvSpPr>
          <p:cNvPr id="1557650966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Исход переговоров реально зависит от стратегии и аргументов, а не заскриптован заранее</a:t>
            </a:r>
          </a:p>
        </p:txBody>
      </p:sp>
      <p:sp>
        <p:nvSpPr>
          <p:cNvPr id="1548175430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Один тренажёр - любая аудитория: сфера, тон и сложность настраиваются под задачу</a:t>
            </a:r>
          </a:p>
        </p:txBody>
      </p:sp>
      <p:sp>
        <p:nvSpPr>
          <p:cNvPr id="803990948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Не требует дорогого очного тренера и подстраивается под любое расписание</a:t>
            </a:r>
          </a:p>
        </p:txBody>
      </p:sp>
      <p:sp>
        <p:nvSpPr>
          <p:cNvPr id="88558254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70761517" name="Заголовок 13"/>
          <p:cNvSpPr>
            <a:spLocks noGrp="1"/>
          </p:cNvSpPr>
          <p:nvPr>
            <p:ph type="title"/>
          </p:nvPr>
        </p:nvSpPr>
        <p:spPr bwMode="auto">
          <a:xfrm>
            <a:off x="534443" y="446952"/>
            <a:ext cx="9862734" cy="3761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ЦЕННОСТЬ ПОДХОДА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3949" name="Скругленный прямоугольник 11"/>
          <p:cNvSpPr/>
          <p:nvPr/>
        </p:nvSpPr>
        <p:spPr bwMode="auto">
          <a:xfrm>
            <a:off x="346075" y="324562"/>
            <a:ext cx="42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36445836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30673462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75259" y="150953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1. Выбор сценария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2047862626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Сфера, сложность, тон и цели оппонента заданы заранее в конструкторе сценариев</a:t>
            </a:r>
          </a:p>
        </p:txBody>
      </p:sp>
      <p:sp>
        <p:nvSpPr>
          <p:cNvPr id="1983817528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52012" y="1493600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3. Нарастание напряжения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722944235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24185" y="1972551"/>
            <a:ext cx="2526079" cy="112068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Шкала переговоров и реакция оппонента меняются по ходу диалога</a:t>
            </a:r>
          </a:p>
        </p:txBody>
      </p:sp>
      <p:sp>
        <p:nvSpPr>
          <p:cNvPr id="2098165006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50953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5. Разбор и рост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40650313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050108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Баллы по 4 критериям, XP и уровень переговорщика растут между сессиями</a:t>
            </a:r>
          </a:p>
        </p:txBody>
      </p:sp>
      <p:sp>
        <p:nvSpPr>
          <p:cNvPr id="934694807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2272" y="4954633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2. Живой диалог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47854042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85519" y="5289162"/>
            <a:ext cx="2526079" cy="112068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Пользователь ведёт переговоры репликами, ИИ-оппонент отвечает с учётом контекста</a:t>
            </a:r>
          </a:p>
        </p:txBody>
      </p:sp>
      <p:sp>
        <p:nvSpPr>
          <p:cNvPr id="1006559366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130616" y="4949179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0" dirty="0">
                <a:solidFill>
                  <a:schemeClr val="tx1"/>
                </a:solidFill>
              </a:rPr>
              <a:t>4. Исход сделки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93638577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357423"/>
            <a:ext cx="2526079" cy="944602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Сделка заключена, сорвана или достигнут компромисс — так проверяется стратегия</a:t>
            </a:r>
          </a:p>
        </p:txBody>
      </p:sp>
      <p:cxnSp>
        <p:nvCxnSpPr>
          <p:cNvPr id="1976465680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828066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408614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556577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8362513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97601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498374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464287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2583231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6174855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</a:rPr>
              <a:t>1</a:t>
            </a:r>
            <a:endParaRPr/>
          </a:p>
        </p:txBody>
      </p:sp>
      <p:sp>
        <p:nvSpPr>
          <p:cNvPr id="1253173458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</a:rPr>
              <a:t>2</a:t>
            </a:r>
            <a:endParaRPr/>
          </a:p>
        </p:txBody>
      </p:sp>
      <p:sp>
        <p:nvSpPr>
          <p:cNvPr id="1345523930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</a:rPr>
              <a:t>3</a:t>
            </a:r>
            <a:endParaRPr/>
          </a:p>
        </p:txBody>
      </p:sp>
      <p:sp>
        <p:nvSpPr>
          <p:cNvPr id="1312823005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</a:rPr>
              <a:t>4</a:t>
            </a:r>
            <a:endParaRPr/>
          </a:p>
        </p:txBody>
      </p:sp>
      <p:sp>
        <p:nvSpPr>
          <p:cNvPr id="151193008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</a:rPr>
              <a:t>5</a:t>
            </a:r>
            <a:endParaRPr/>
          </a:p>
        </p:txBody>
      </p:sp>
      <p:sp>
        <p:nvSpPr>
          <p:cNvPr id="93745173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ПУТЬ ПОЛЬЗОВАТЕЛЯ</a:t>
            </a:r>
          </a:p>
        </p:txBody>
      </p:sp>
      <p:sp>
        <p:nvSpPr>
          <p:cNvPr id="1291753876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012566366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945283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95369699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79742098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994670" name="Скругленный прямоугольник 9"/>
          <p:cNvSpPr/>
          <p:nvPr/>
        </p:nvSpPr>
        <p:spPr bwMode="auto">
          <a:xfrm>
            <a:off x="346075" y="324562"/>
            <a:ext cx="60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95041915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06900531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10862573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03566760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5394262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3174237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Сфера и тема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23085406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Закупки, HR, продажи, инвестиции - любая предметная область переговоров</a:t>
            </a:r>
          </a:p>
        </p:txBody>
      </p:sp>
      <p:sp>
        <p:nvSpPr>
          <p:cNvPr id="772003838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Сложность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463538681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Лёгкая, средняя или сложная - определяет уступчивость оппонента</a:t>
            </a:r>
          </a:p>
        </p:txBody>
      </p:sp>
      <p:sp>
        <p:nvSpPr>
          <p:cNvPr id="1499723680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56363" y="2379657"/>
            <a:ext cx="2268537" cy="4039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Тон оппонента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38978056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Дружелюбный, нейтральный или жёсткий стиль общения</a:t>
            </a:r>
          </a:p>
        </p:txBody>
      </p:sp>
      <p:sp>
        <p:nvSpPr>
          <p:cNvPr id="2028768241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Роль и цели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916627225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Кто оппонент и чего он добивается - под это подстраивается весь диалог</a:t>
            </a:r>
          </a:p>
        </p:txBody>
      </p:sp>
      <p:sp>
        <p:nvSpPr>
          <p:cNvPr id="154727936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КОНФИГУРИРУЕМОСТЬ СЦЕНАРИЯ</a:t>
            </a:r>
          </a:p>
        </p:txBody>
      </p:sp>
      <p:sp>
        <p:nvSpPr>
          <p:cNvPr id="461133382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597039539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83701318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332725870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19081"/>
            <a:ext cx="771003" cy="42362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4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569106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82174654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5628549" name="Заголовок 2"/>
          <p:cNvSpPr>
            <a:spLocks noGrp="1"/>
          </p:cNvSpPr>
          <p:nvPr>
            <p:ph type="title"/>
          </p:nvPr>
        </p:nvSpPr>
        <p:spPr bwMode="auto">
          <a:xfrm>
            <a:off x="526422" y="114800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800" b="1" dirty="0">
                <a:solidFill>
                  <a:schemeClr val="accent5"/>
                </a:solidFill>
              </a:rPr>
              <a:t>Демонстрация интерфейса</a:t>
            </a:r>
            <a:endParaRPr lang="ru-RU" sz="2800" dirty="0">
              <a:solidFill>
                <a:schemeClr val="accent5"/>
              </a:solidFill>
            </a:endParaRPr>
          </a:p>
        </p:txBody>
      </p:sp>
      <p:sp>
        <p:nvSpPr>
          <p:cNvPr id="749850217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26422" y="1830884"/>
            <a:ext cx="4807840" cy="4717356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tx1"/>
                </a:solidFill>
              </a:rPr>
              <a:t>Пользователь видит бриф оппонента, шкалу напряжения переговоров, очки текущего раунда и живой диалог. После завершения - разбор с исходом сделки, баллами по 4 критериям и приростом опыта (XP). Ранг переговорщика сохраняется между сессиями.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6829DA-2B74-41FD-1FE0-A6FC846A54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8117" r="8117"/>
          <a:stretch/>
        </p:blipFill>
        <p:spPr bwMode="auto">
          <a:xfrm>
            <a:off x="5896429" y="1016001"/>
            <a:ext cx="5949495" cy="41571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307774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99641279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57197784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01599167" name="Скругленный прямоугольник 1"/>
          <p:cNvSpPr/>
          <p:nvPr/>
        </p:nvSpPr>
        <p:spPr bwMode="auto">
          <a:xfrm>
            <a:off x="346075" y="324562"/>
            <a:ext cx="530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29560537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65016074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37530188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741050140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ru-RU" dirty="0" err="1">
                <a:solidFill>
                  <a:schemeClr val="tx1"/>
                </a:solidFill>
              </a:rPr>
              <a:t>Frontend</a:t>
            </a:r>
            <a:r>
              <a:rPr lang="ru-RU" dirty="0">
                <a:solidFill>
                  <a:schemeClr val="tx1"/>
                </a:solidFill>
              </a:rPr>
              <a:t>
</a:t>
            </a:r>
            <a:r>
              <a:rPr lang="ru-RU" dirty="0" err="1">
                <a:solidFill>
                  <a:schemeClr val="tx1"/>
                </a:solidFill>
              </a:rPr>
              <a:t>Vanilla</a:t>
            </a:r>
            <a:r>
              <a:rPr lang="ru-RU" dirty="0">
                <a:solidFill>
                  <a:schemeClr val="tx1"/>
                </a:solidFill>
              </a:rPr>
              <a:t> HTML / CSS / JS без сборки - открывается в любом браузере без установки, включая мобильный</a:t>
            </a:r>
          </a:p>
        </p:txBody>
      </p:sp>
      <p:sp>
        <p:nvSpPr>
          <p:cNvPr id="1557479244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Backend
FastAPI + SQLite (SQLAlchemy), конфигурируемые сценарии, история диалога и разбор хранятся на постоянном томе Railway</a:t>
            </a:r>
          </a:p>
        </p:txBody>
      </p:sp>
      <p:sp>
        <p:nvSpPr>
          <p:cNvPr id="148863917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ИИ-оппонент
Gemini API с автоматическим офлайн-</a:t>
            </a:r>
            <a:r>
              <a:rPr lang="ru-RU" dirty="0" err="1">
                <a:solidFill>
                  <a:schemeClr val="tx1"/>
                </a:solidFill>
              </a:rPr>
              <a:t>фолбэком</a:t>
            </a:r>
            <a:r>
              <a:rPr lang="ru-RU" dirty="0">
                <a:solidFill>
                  <a:schemeClr val="tx1"/>
                </a:solidFill>
              </a:rPr>
              <a:t>: если LLM недоступен - демо не ломается, диалог продолжается на заглушках</a:t>
            </a:r>
          </a:p>
        </p:txBody>
      </p:sp>
      <p:cxnSp>
        <p:nvCxnSpPr>
          <p:cNvPr id="1076436289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1996838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818568873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973276362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957219172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410133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АРХИТЕКТУРА И ТЕХНОЛОГИИ</a:t>
            </a:r>
          </a:p>
        </p:txBody>
      </p:sp>
      <p:cxnSp>
        <p:nvCxnSpPr>
          <p:cNvPr id="804332883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865999" name="Скругленный прямоугольник 7"/>
          <p:cNvSpPr/>
          <p:nvPr/>
        </p:nvSpPr>
        <p:spPr bwMode="auto"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9213469" name="Скругленный прямоугольник 8"/>
          <p:cNvSpPr/>
          <p:nvPr/>
        </p:nvSpPr>
        <p:spPr bwMode="auto">
          <a:xfrm>
            <a:off x="8365957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47374655" name="Скругленный прямоугольник 9"/>
          <p:cNvSpPr/>
          <p:nvPr/>
        </p:nvSpPr>
        <p:spPr bwMode="auto"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7914130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21433280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780565" y="2493074"/>
            <a:ext cx="2965634" cy="4236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>
                <a:solidFill>
                  <a:schemeClr val="tx1"/>
                </a:solidFill>
              </a:rPr>
              <a:t>Сделано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1044130995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780565" y="3128740"/>
            <a:ext cx="2965633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Диалог с ИИ-оппонентом, 3 готовых сценария разной сферы, разбор с исходом сделки, геймификация (ранг, XP, шкала напряжения), публичный деплой на Railway</a:t>
            </a:r>
          </a:p>
        </p:txBody>
      </p:sp>
      <p:sp>
        <p:nvSpPr>
          <p:cNvPr id="409399157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4623178" y="2493074"/>
            <a:ext cx="3034896" cy="4037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>
                <a:solidFill>
                  <a:schemeClr val="tx1"/>
                </a:solidFill>
              </a:rPr>
              <a:t>Отказоустойчивость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956446255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4623178" y="3128740"/>
            <a:ext cx="3034896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Офлайн-режим при сбое LLM, постоянное хранилище сценариев на volume, сиды по умолчанию переживают передеплой</a:t>
            </a:r>
          </a:p>
        </p:txBody>
      </p:sp>
      <p:sp>
        <p:nvSpPr>
          <p:cNvPr id="2045145135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8547959" y="2493074"/>
            <a:ext cx="2945464" cy="4039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800">
                <a:solidFill>
                  <a:schemeClr val="tx1"/>
                </a:solidFill>
              </a:rPr>
              <a:t>Можно развить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2106578316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8547959" y="3128740"/>
            <a:ext cx="2945464" cy="27979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Авторизация и история прогресса пользователя, библиотека сценариев по отраслям, голосовой ввод, мультиплеер «два живых участника + ИИ-посредник»</a:t>
            </a:r>
          </a:p>
        </p:txBody>
      </p:sp>
      <p:sp>
        <p:nvSpPr>
          <p:cNvPr id="955100969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6" y="335426"/>
            <a:ext cx="11331221" cy="3761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accent5"/>
                </a:solidFill>
              </a:rPr>
              <a:t>ГРАНИЦЫ MVP</a:t>
            </a:r>
          </a:p>
        </p:txBody>
      </p:sp>
      <p:sp>
        <p:nvSpPr>
          <p:cNvPr id="196117511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780565" y="1772415"/>
            <a:ext cx="1311031" cy="60114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400" b="1">
                <a:solidFill>
                  <a:schemeClr val="tx1"/>
                </a:solidFill>
              </a:rPr>
              <a:t>01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865721789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4615219" y="1766200"/>
            <a:ext cx="1311031" cy="5729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400" b="1">
                <a:solidFill>
                  <a:schemeClr val="tx1"/>
                </a:solidFill>
              </a:rPr>
              <a:t>02</a:t>
            </a:r>
            <a:endParaRPr lang="ru-RU" sz="4400" b="1">
              <a:solidFill>
                <a:schemeClr val="accent5"/>
              </a:solidFill>
            </a:endParaRPr>
          </a:p>
        </p:txBody>
      </p:sp>
      <p:sp>
        <p:nvSpPr>
          <p:cNvPr id="111034248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8547959" y="1766043"/>
            <a:ext cx="1311031" cy="57316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400" b="1">
                <a:solidFill>
                  <a:schemeClr val="tx1"/>
                </a:solidFill>
              </a:rPr>
              <a:t>03</a:t>
            </a:r>
            <a:endParaRPr lang="ru-RU" sz="4400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07221" name="Скругленный прямоугольник 1"/>
          <p:cNvSpPr/>
          <p:nvPr/>
        </p:nvSpPr>
        <p:spPr bwMode="auto">
          <a:xfrm>
            <a:off x="346075" y="324562"/>
            <a:ext cx="46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73153193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22665948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19793564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733103199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10725341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93977822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467447737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algn="l">
              <a:defRPr/>
            </a:pPr>
            <a:r>
              <a:rPr lang="ru-RU" sz="3200" b="1" dirty="0">
                <a:solidFill>
                  <a:schemeClr val="tx1"/>
                </a:solidFill>
              </a:rPr>
              <a:t>Продаём не «ИИ-чат», а измеримый навык: рост XP, ранга и балла за сделку — прогресс, который HR может показать руководству</a:t>
            </a:r>
          </a:p>
        </p:txBody>
      </p:sp>
      <p:sp>
        <p:nvSpPr>
          <p:cNvPr id="1796266057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HR-платформы и корпоративные LMS — встраивание как модуль soft-skills тренинга</a:t>
            </a:r>
          </a:p>
        </p:txBody>
      </p:sp>
      <p:sp>
        <p:nvSpPr>
          <p:cNvPr id="34033986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Вузы и колледжи — курсы по продажам, менеджменту и деловым коммуникациям</a:t>
            </a:r>
          </a:p>
        </p:txBody>
      </p:sp>
      <p:sp>
        <p:nvSpPr>
          <p:cNvPr id="1557650966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Контент в соцсетях — короткие ролики «переговоры за минуту» с реальными диалогами из тренажёра</a:t>
            </a:r>
          </a:p>
        </p:txBody>
      </p:sp>
      <p:sp>
        <p:nvSpPr>
          <p:cNvPr id="1548175430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Демо на профильных HR- и EdTech-конференциях и хакатонах</a:t>
            </a:r>
          </a:p>
        </p:txBody>
      </p:sp>
      <p:sp>
        <p:nvSpPr>
          <p:cNvPr id="803990948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>
                <a:solidFill>
                  <a:schemeClr val="tx1"/>
                </a:solidFill>
              </a:rPr>
              <a:t>Бесплатный демо-сценарий как воронка — платные отраслевые сценарии для команд</a:t>
            </a:r>
          </a:p>
        </p:txBody>
      </p:sp>
      <p:sp>
        <p:nvSpPr>
          <p:cNvPr id="88558254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7076151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 ПРОДВИГАТЬ ПРОДУКТ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39571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5618817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F23F2D-1685-AF12-92E0-BEEBBDA018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9749" r="9749"/>
          <a:stretch/>
        </p:blipFill>
        <p:spPr bwMode="auto">
          <a:xfrm>
            <a:off x="6469811" y="1830304"/>
            <a:ext cx="5376115" cy="3756490"/>
          </a:xfrm>
          <a:prstGeom prst="roundRect">
            <a:avLst>
              <a:gd name="adj" fmla="val 6127"/>
            </a:avLst>
          </a:prstGeom>
        </p:spPr>
      </p:pic>
      <p:sp>
        <p:nvSpPr>
          <p:cNvPr id="458588495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346074" y="1216323"/>
            <a:ext cx="5666537" cy="4984453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 sz="1800" dirty="0">
                <a:solidFill>
                  <a:schemeClr val="tx1"/>
                </a:solidFill>
              </a:rPr>
              <a:t>Большинство учебных симуляторов - это дерево заранее прописанных реплик: под каждую новую тему нужно вручную писать новый сценарий. «Арена переговоров» устроена иначе - один ИИ-движок, которому подставляется контекст (сфера, тон, роль и цели оппонента), порождает уникальный живой диалог для любой отрасли без единой строки нового кода. Это и есть требуемая </a:t>
            </a:r>
            <a:r>
              <a:rPr lang="ru-RU" sz="1800" dirty="0" err="1">
                <a:solidFill>
                  <a:schemeClr val="tx1"/>
                </a:solidFill>
              </a:rPr>
              <a:t>конфигурируемость</a:t>
            </a:r>
            <a:r>
              <a:rPr lang="ru-RU" sz="1800" dirty="0">
                <a:solidFill>
                  <a:schemeClr val="tx1"/>
                </a:solidFill>
              </a:rPr>
              <a:t> под разные аудитории - не 3 </a:t>
            </a:r>
            <a:r>
              <a:rPr lang="ru-RU" sz="1800" dirty="0" err="1">
                <a:solidFill>
                  <a:schemeClr val="tx1"/>
                </a:solidFill>
              </a:rPr>
              <a:t>захардкоженных</a:t>
            </a:r>
            <a:r>
              <a:rPr lang="ru-RU" sz="1800" dirty="0">
                <a:solidFill>
                  <a:schemeClr val="tx1"/>
                </a:solidFill>
              </a:rPr>
              <a:t> сценария, а бесконечное число вариаций поверх одной архитектуры, дополненное измеримым исходом сделки и офлайн-</a:t>
            </a:r>
            <a:r>
              <a:rPr lang="ru-RU" sz="1800" dirty="0" err="1">
                <a:solidFill>
                  <a:schemeClr val="tx1"/>
                </a:solidFill>
              </a:rPr>
              <a:t>фолбэком</a:t>
            </a:r>
            <a:r>
              <a:rPr lang="ru-RU" sz="1800" dirty="0">
                <a:solidFill>
                  <a:schemeClr val="tx1"/>
                </a:solidFill>
              </a:rPr>
              <a:t> на случай сбоя ИИ.</a:t>
            </a:r>
          </a:p>
        </p:txBody>
      </p:sp>
      <p:sp>
        <p:nvSpPr>
          <p:cNvPr id="523063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430927" y="569343"/>
            <a:ext cx="2648704" cy="37613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УНИКАЛЬНОСТЬ РЕШЕНИЯ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</TotalTime>
  <Words>1099</Words>
  <Application>Microsoft Office PowerPoint</Application>
  <PresentationFormat>Широкоэкранный</PresentationFormat>
  <Paragraphs>123</Paragraphs>
  <Slides>14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Montserrat</vt:lpstr>
      <vt:lpstr>Wingdings</vt:lpstr>
      <vt:lpstr>Для Академия инноваторов 16_9</vt:lpstr>
      <vt:lpstr>«Арена переговоров»</vt:lpstr>
      <vt:lpstr>Связисты</vt:lpstr>
      <vt:lpstr>Презентация PowerPoint</vt:lpstr>
      <vt:lpstr>Команда «Связисты»</vt:lpstr>
      <vt:lpstr>КОРОТКО О РЕШЕНИИ</vt:lpstr>
      <vt:lpstr>АУДИТОРИЯ И ПРОБЛЕМА</vt:lpstr>
      <vt:lpstr>ЦЕННОСТЬ ПОДХОДА</vt:lpstr>
      <vt:lpstr>ПУТЬ ПОЛЬЗОВАТЕЛЯ</vt:lpstr>
      <vt:lpstr>КОНФИГУРИРУЕМОСТЬ СЦЕНАРИЯ</vt:lpstr>
      <vt:lpstr>Демонстрация интерфейса</vt:lpstr>
      <vt:lpstr>АРХИТЕКТУРА И ТЕХНОЛОГИИ</vt:lpstr>
      <vt:lpstr>ГРАНИЦЫ MVP</vt:lpstr>
      <vt:lpstr>КАК ПРОДВИГАТЬ ПРОДУКТ</vt:lpstr>
      <vt:lpstr>УНИКАЛЬНОСТЬ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taoroa +</cp:lastModifiedBy>
  <cp:revision>100</cp:revision>
  <dcterms:created xsi:type="dcterms:W3CDTF">2023-05-15T07:36:23Z</dcterms:created>
  <dcterms:modified xsi:type="dcterms:W3CDTF">2026-09-29T17:55:21Z</dcterms:modified>
</cp:coreProperties>
</file>